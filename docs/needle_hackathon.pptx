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5C7D9E"/>
                </a:solidFill>
                <a:latin typeface="Arial"/>
              </a:defRPr>
            </a:pPr>
            <a:r>
              <a:rPr lang="en-IN" sz="1000" b="0" i="0" u="none" strike="noStrike">
                <a:solidFill>
                  <a:srgbClr val="5C7D9E"/>
                </a:solidFill>
                <a:latin typeface="Arial"/>
              </a:rPr>
              <a:t>Search stage breakdown (ms)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ms</c:v>
                </c:pt>
              </c:strCache>
            </c:strRef>
          </c:tx>
          <c:spPr>
            <a:solidFill>
              <a:srgbClr val="00C8F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ACD-4174-8D2A-3ABA2B3A25DF}"/>
              </c:ext>
            </c:extLst>
          </c:dPt>
          <c:dPt>
            <c:idx val="1"/>
            <c:invertIfNegative val="0"/>
            <c:bubble3D val="0"/>
            <c:spPr>
              <a:solidFill>
                <a:srgbClr val="5C7D9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ACD-4174-8D2A-3ABA2B3A25DF}"/>
              </c:ext>
            </c:extLst>
          </c:dPt>
          <c:dPt>
            <c:idx val="2"/>
            <c:invertIfNegative val="0"/>
            <c:bubble3D val="0"/>
            <c:spPr>
              <a:solidFill>
                <a:srgbClr val="00E67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ACD-4174-8D2A-3ABA2B3A25DF}"/>
              </c:ext>
            </c:extLst>
          </c:dPt>
          <c:dPt>
            <c:idx val="3"/>
            <c:invertIfNegative val="0"/>
            <c:bubble3D val="0"/>
            <c:spPr>
              <a:solidFill>
                <a:srgbClr val="5C7D9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ACD-4174-8D2A-3ABA2B3A25D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0F8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HNSW kNN</c:v>
                </c:pt>
                <c:pt idx="1">
                  <c:v>RRF Fusion</c:v>
                </c:pt>
                <c:pt idx="2">
                  <c:v>BM25 Keyword</c:v>
                </c:pt>
                <c:pt idx="3">
                  <c:v>Embedding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3.4740000000000002</c:v>
                </c:pt>
                <c:pt idx="1">
                  <c:v>0.32600000000000001</c:v>
                </c:pt>
                <c:pt idx="2">
                  <c:v>6.7000000000000004E-2</c:v>
                </c:pt>
                <c:pt idx="3">
                  <c:v>0.02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ACD-4174-8D2A-3ABA2B3A25D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D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5080" cap="flat">
              <a:solidFill>
                <a:srgbClr val="1A3050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D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1304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47% of developer time is spent searching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problems: keyword-only, cloud-dependent, graph-blind.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Solution: BM25+HNSW, call graph, MCP, 100% local. 3.89ms average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Pipeline: Tree-sitter→chunks→BM25+HNSW(parallel)→RRF→&lt;4ms→graph/MCP/health/security.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Innovations: RRF fusion, AST chunking, MCP protocol, zero-dep embedding.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Results: 3.89ms avg, 0 errors at 50 concurrency, P50 97.9ms, P99 128ms, health 100/100.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Needle is the only tool combining: semantic search, call graph, MCP, local, health, security.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6 steps, 90 seconds — install, index, serve, search, graph, health+security.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Impact: 350,000× faster lookup, instant call chain, 115,000× faster audit, 80× faster onboarding.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Getting started: 3 steps, 30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Roadmap: v1.0 → v1.5 Q3 2025 → v2.0 Q4 2025 → Enterprise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Team: Somil, founder and lead engineer.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Closing: cargo install needle &amp;&amp; needle init . &amp;&amp; needle serve.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548640"/>
            <a:ext cx="3657600" cy="3657600"/>
          </a:xfrm>
          <a:prstGeom prst="ellipse">
            <a:avLst/>
          </a:prstGeom>
          <a:solidFill>
            <a:srgbClr val="00C8FF">
              <a:alpha val="4000"/>
            </a:srgbClr>
          </a:solidFill>
          <a:ln w="12700">
            <a:solidFill>
              <a:srgbClr val="00C8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38912"/>
            <a:ext cx="4754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B8D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Developers waste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77824"/>
            <a:ext cx="4754880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kern="0" spc="-200" dirty="0">
                <a:solidFill>
                  <a:srgbClr val="FF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47%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457200" y="2487168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0F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their time searching code.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3291840"/>
            <a:ext cx="4023360" cy="36576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456432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C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built the fix.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0" y="4700016"/>
            <a:ext cx="9144000" cy="438912"/>
          </a:xfrm>
          <a:prstGeom prst="rect">
            <a:avLst/>
          </a:prstGeom>
          <a:solidFill>
            <a:srgbClr val="0C1828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73659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kern="0" spc="150" dirty="0">
                <a:solidFill>
                  <a:srgbClr val="5C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NEEDLE  ·  Code Intelligence  ·  Rust  ·  Local-first  ·  MCP-native  ·  MIT License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230368" y="256032"/>
            <a:ext cx="3730752" cy="4352544"/>
          </a:xfrm>
          <a:prstGeom prst="rect">
            <a:avLst/>
          </a:prstGeom>
          <a:solidFill>
            <a:srgbClr val="0C1828"/>
          </a:solidFill>
          <a:ln w="8255">
            <a:solidFill>
              <a:srgbClr val="1A3050"/>
            </a:solidFill>
            <a:prstDash val="solid"/>
          </a:ln>
        </p:spPr>
      </p:sp>
      <p:pic>
        <p:nvPicPr>
          <p:cNvPr id="11" name="Image 0" descr="D:/NEEDLE/docs/Screenshot 2026-07-12 1742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9372" y="315405"/>
            <a:ext cx="5531417" cy="40005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F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broken tools. One compounding cost.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8229600" cy="1005840"/>
          </a:xfrm>
          <a:prstGeom prst="roundRect">
            <a:avLst>
              <a:gd name="adj" fmla="val 4545"/>
            </a:avLst>
          </a:prstGeom>
          <a:solidFill>
            <a:srgbClr val="111F32"/>
          </a:solidFill>
          <a:ln w="8255">
            <a:solidFill>
              <a:srgbClr val="1A30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54864" cy="1005840"/>
          </a:xfrm>
          <a:prstGeom prst="rect">
            <a:avLst/>
          </a:prstGeom>
          <a:solidFill>
            <a:srgbClr val="FF3A5C"/>
          </a:solidFill>
          <a:ln w="12700">
            <a:solidFill>
              <a:srgbClr val="FF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1704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Keyword-only search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" y="1481328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 and regex find tokens, not meaning. Search "auth" → 400 results. Developer reads every one.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974336" y="1261872"/>
            <a:ext cx="3547872" cy="621792"/>
          </a:xfrm>
          <a:prstGeom prst="roundRect">
            <a:avLst>
              <a:gd name="adj" fmla="val 7353"/>
            </a:avLst>
          </a:prstGeom>
          <a:solidFill>
            <a:srgbClr val="0C1828"/>
          </a:solidFill>
          <a:ln w="8255">
            <a:solidFill>
              <a:srgbClr val="1A30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0" y="1335024"/>
            <a:ext cx="32552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00" dirty="0">
                <a:solidFill>
                  <a:srgbClr val="F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min avg to locate one unfamiliar function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31136"/>
            <a:ext cx="8229600" cy="1005840"/>
          </a:xfrm>
          <a:prstGeom prst="roundRect">
            <a:avLst>
              <a:gd name="adj" fmla="val 4545"/>
            </a:avLst>
          </a:prstGeom>
          <a:solidFill>
            <a:srgbClr val="111F32"/>
          </a:solidFill>
          <a:ln w="8255">
            <a:solidFill>
              <a:srgbClr val="1A30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231136"/>
            <a:ext cx="54864" cy="1005840"/>
          </a:xfrm>
          <a:prstGeom prst="rect">
            <a:avLst/>
          </a:prstGeom>
          <a:solidFill>
            <a:srgbClr val="FF3A5C"/>
          </a:solidFill>
          <a:ln w="12700">
            <a:solidFill>
              <a:srgbClr val="FF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32257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dependency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" y="2633472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Sourcegraph and GitHub Search send private code to external servers — a compliance blocker for enterprises.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974336" y="2414016"/>
            <a:ext cx="3547872" cy="621792"/>
          </a:xfrm>
          <a:prstGeom prst="roundRect">
            <a:avLst>
              <a:gd name="adj" fmla="val 7353"/>
            </a:avLst>
          </a:prstGeom>
          <a:solidFill>
            <a:srgbClr val="0C1828"/>
          </a:solidFill>
          <a:ln w="8255">
            <a:solidFill>
              <a:srgbClr val="1A30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0" y="2487168"/>
            <a:ext cx="32552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00" dirty="0">
                <a:solidFill>
                  <a:srgbClr val="F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teams blocked from using cloud search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383280"/>
            <a:ext cx="8229600" cy="1005840"/>
          </a:xfrm>
          <a:prstGeom prst="roundRect">
            <a:avLst>
              <a:gd name="adj" fmla="val 4545"/>
            </a:avLst>
          </a:prstGeom>
          <a:solidFill>
            <a:srgbClr val="111F32"/>
          </a:solidFill>
          <a:ln w="8255">
            <a:solidFill>
              <a:srgbClr val="1A30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383280"/>
            <a:ext cx="54864" cy="1005840"/>
          </a:xfrm>
          <a:prstGeom prst="rect">
            <a:avLst/>
          </a:prstGeom>
          <a:solidFill>
            <a:srgbClr val="FF3A5C"/>
          </a:solidFill>
          <a:ln w="12700">
            <a:solidFill>
              <a:srgbClr val="FF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474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graph awareness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" y="3785616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tool shows who calls what. The call graph lives in senior devs' heads and vanishes when they leave.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974336" y="3566160"/>
            <a:ext cx="3547872" cy="621792"/>
          </a:xfrm>
          <a:prstGeom prst="roundRect">
            <a:avLst>
              <a:gd name="adj" fmla="val 7353"/>
            </a:avLst>
          </a:prstGeom>
          <a:solidFill>
            <a:srgbClr val="0C1828"/>
          </a:solidFill>
          <a:ln w="8255">
            <a:solidFill>
              <a:srgbClr val="1A30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0" y="3639312"/>
            <a:ext cx="32552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00" dirty="0">
                <a:solidFill>
                  <a:srgbClr val="F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$84K / dev / year in navigation and onboarding waste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0" b="1" kern="0" spc="800" dirty="0">
                <a:solidFill>
                  <a:srgbClr val="F0F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Needle</a:t>
            </a:r>
            <a:endParaRPr lang="en-US" sz="7600" dirty="0"/>
          </a:p>
        </p:txBody>
      </p:sp>
      <p:sp>
        <p:nvSpPr>
          <p:cNvPr id="4" name="Shape 2"/>
          <p:cNvSpPr/>
          <p:nvPr/>
        </p:nvSpPr>
        <p:spPr>
          <a:xfrm>
            <a:off x="3291840" y="1335024"/>
            <a:ext cx="2560320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anything. Understand everything. Stay private.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1938528" cy="786384"/>
          </a:xfrm>
          <a:prstGeom prst="roundRect">
            <a:avLst>
              <a:gd name="adj" fmla="val 5814"/>
            </a:avLst>
          </a:prstGeom>
          <a:solidFill>
            <a:srgbClr val="111F32"/>
          </a:solidFill>
          <a:ln w="8255">
            <a:solidFill>
              <a:srgbClr val="1A3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011680"/>
            <a:ext cx="19385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Search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322576"/>
            <a:ext cx="19385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HNSW via RRF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542032" y="1920240"/>
            <a:ext cx="1938528" cy="786384"/>
          </a:xfrm>
          <a:prstGeom prst="roundRect">
            <a:avLst>
              <a:gd name="adj" fmla="val 5814"/>
            </a:avLst>
          </a:prstGeom>
          <a:solidFill>
            <a:srgbClr val="111F32"/>
          </a:solidFill>
          <a:ln w="8255">
            <a:solidFill>
              <a:srgbClr val="1A30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42032" y="2011680"/>
            <a:ext cx="19385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Graph-aware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42032" y="2322576"/>
            <a:ext cx="19385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+ import edges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26864" y="1920240"/>
            <a:ext cx="1938528" cy="786384"/>
          </a:xfrm>
          <a:prstGeom prst="roundRect">
            <a:avLst>
              <a:gd name="adj" fmla="val 5814"/>
            </a:avLst>
          </a:prstGeom>
          <a:solidFill>
            <a:srgbClr val="111F32"/>
          </a:solidFill>
          <a:ln w="8255">
            <a:solidFill>
              <a:srgbClr val="1A30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26864" y="2011680"/>
            <a:ext cx="19385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6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AI-native MCP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26864" y="2322576"/>
            <a:ext cx="19385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tools / JSON-RPC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711696" y="1920240"/>
            <a:ext cx="1938528" cy="786384"/>
          </a:xfrm>
          <a:prstGeom prst="roundRect">
            <a:avLst>
              <a:gd name="adj" fmla="val 5814"/>
            </a:avLst>
          </a:prstGeom>
          <a:solidFill>
            <a:srgbClr val="111F32"/>
          </a:solidFill>
          <a:ln w="8255">
            <a:solidFill>
              <a:srgbClr val="1A30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11696" y="2011680"/>
            <a:ext cx="19385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8D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 Local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11696" y="2322576"/>
            <a:ext cx="19385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cloud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" y="2889504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0E6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3.89 ms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457200" y="367588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end-to-end search time  ·  measured on real hardware  ·  no GPU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409651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Rust  ·  MIT Licensed  ·  Runs offline  ·  Works in air-gapped environments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pipeline — from source files to AI insights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37744" y="1078992"/>
            <a:ext cx="1042416" cy="749808"/>
          </a:xfrm>
          <a:prstGeom prst="roundRect">
            <a:avLst>
              <a:gd name="adj" fmla="val 6098"/>
            </a:avLst>
          </a:prstGeom>
          <a:solidFill>
            <a:srgbClr val="0C1828"/>
          </a:solidFill>
          <a:ln w="8255">
            <a:solidFill>
              <a:srgbClr val="5C7D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37744" y="1188720"/>
            <a:ext cx="1042416" cy="389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C7D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5C7D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37744" y="1573865"/>
            <a:ext cx="1042416" cy="2099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C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langs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307592" y="1353312"/>
            <a:ext cx="237744" cy="201168"/>
          </a:xfrm>
          <a:prstGeom prst="rightArrow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36192" y="1078992"/>
            <a:ext cx="1042416" cy="749808"/>
          </a:xfrm>
          <a:prstGeom prst="roundRect">
            <a:avLst>
              <a:gd name="adj" fmla="val 6098"/>
            </a:avLst>
          </a:prstGeom>
          <a:solidFill>
            <a:srgbClr val="111F32"/>
          </a:solidFill>
          <a:ln w="8255">
            <a:solidFill>
              <a:srgbClr val="1A30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36192" y="1078992"/>
            <a:ext cx="1042416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36192" y="1133856"/>
            <a:ext cx="1042416" cy="389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Tree-sitter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0F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536192" y="1513881"/>
            <a:ext cx="1042416" cy="2624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C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extract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606040" y="1353312"/>
            <a:ext cx="237744" cy="201168"/>
          </a:xfrm>
          <a:prstGeom prst="rightArrow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34640" y="1078992"/>
            <a:ext cx="1042416" cy="749808"/>
          </a:xfrm>
          <a:prstGeom prst="roundRect">
            <a:avLst>
              <a:gd name="adj" fmla="val 6098"/>
            </a:avLst>
          </a:prstGeom>
          <a:solidFill>
            <a:srgbClr val="111F32"/>
          </a:solidFill>
          <a:ln w="8255">
            <a:solidFill>
              <a:srgbClr val="1A30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34640" y="1078992"/>
            <a:ext cx="1042416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34640" y="1133856"/>
            <a:ext cx="1042416" cy="389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0F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834640" y="1513881"/>
            <a:ext cx="1042416" cy="2624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C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462 chunks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904488" y="1353312"/>
            <a:ext cx="237744" cy="201168"/>
          </a:xfrm>
          <a:prstGeom prst="rightArrow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33088" y="1078992"/>
            <a:ext cx="1042416" cy="749808"/>
          </a:xfrm>
          <a:prstGeom prst="roundRect">
            <a:avLst>
              <a:gd name="adj" fmla="val 6098"/>
            </a:avLst>
          </a:prstGeom>
          <a:solidFill>
            <a:srgbClr val="111F32"/>
          </a:solidFill>
          <a:ln w="8255">
            <a:solidFill>
              <a:srgbClr val="1A30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33088" y="1078992"/>
            <a:ext cx="1042416" cy="36576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33088" y="1133856"/>
            <a:ext cx="1042416" cy="389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BM25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0F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33088" y="1513881"/>
            <a:ext cx="1042416" cy="2624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C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0.07ms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202936" y="1353312"/>
            <a:ext cx="237744" cy="201168"/>
          </a:xfrm>
          <a:prstGeom prst="rightArrow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31536" y="1078992"/>
            <a:ext cx="1042416" cy="749808"/>
          </a:xfrm>
          <a:prstGeom prst="roundRect">
            <a:avLst>
              <a:gd name="adj" fmla="val 6098"/>
            </a:avLst>
          </a:prstGeom>
          <a:solidFill>
            <a:srgbClr val="111F32"/>
          </a:solidFill>
          <a:ln w="8255">
            <a:solidFill>
              <a:srgbClr val="1A30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31536" y="1078992"/>
            <a:ext cx="1042416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31536" y="1133856"/>
            <a:ext cx="1042416" cy="389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HNSW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0F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31536" y="1513881"/>
            <a:ext cx="1042416" cy="2624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C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3.47ms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501384" y="1353312"/>
            <a:ext cx="237744" cy="201168"/>
          </a:xfrm>
          <a:prstGeom prst="rightArrow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29984" y="1078992"/>
            <a:ext cx="1042416" cy="749808"/>
          </a:xfrm>
          <a:prstGeom prst="roundRect">
            <a:avLst>
              <a:gd name="adj" fmla="val 6098"/>
            </a:avLst>
          </a:prstGeom>
          <a:solidFill>
            <a:srgbClr val="111F32"/>
          </a:solidFill>
          <a:ln w="8255">
            <a:solidFill>
              <a:srgbClr val="1A30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29984" y="1078992"/>
            <a:ext cx="1042416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29984" y="1133856"/>
            <a:ext cx="1042416" cy="389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RRF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0F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729984" y="1513881"/>
            <a:ext cx="1042416" cy="2624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C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7799832" y="1353312"/>
            <a:ext cx="237744" cy="201168"/>
          </a:xfrm>
          <a:prstGeom prst="rightArrow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28432" y="1078992"/>
            <a:ext cx="1042416" cy="749808"/>
          </a:xfrm>
          <a:prstGeom prst="roundRect">
            <a:avLst>
              <a:gd name="adj" fmla="val 6098"/>
            </a:avLst>
          </a:prstGeom>
          <a:solidFill>
            <a:srgbClr val="0C1828"/>
          </a:solidFill>
          <a:ln w="8255">
            <a:solidFill>
              <a:srgbClr val="00E67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28432" y="1188720"/>
            <a:ext cx="1042416" cy="389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6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E6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&lt;4ms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028432" y="1573865"/>
            <a:ext cx="1042416" cy="2099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C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API/CLI/MCP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237744" y="1920240"/>
            <a:ext cx="8668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keyword + HNSW vector run in parallel — merged via Reciprocal Rank Fusion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37744" y="2249424"/>
            <a:ext cx="1609344" cy="786384"/>
          </a:xfrm>
          <a:prstGeom prst="roundRect">
            <a:avLst>
              <a:gd name="adj" fmla="val 5814"/>
            </a:avLst>
          </a:prstGeom>
          <a:solidFill>
            <a:srgbClr val="111F32"/>
          </a:solidFill>
          <a:ln w="8255">
            <a:solidFill>
              <a:srgbClr val="1A305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37744" y="2249424"/>
            <a:ext cx="1609344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7744" y="2304288"/>
            <a:ext cx="1609344" cy="40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0F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37744" y="2705527"/>
            <a:ext cx="1609344" cy="2752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C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440 nodes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2011680" y="2249424"/>
            <a:ext cx="1609344" cy="786384"/>
          </a:xfrm>
          <a:prstGeom prst="roundRect">
            <a:avLst>
              <a:gd name="adj" fmla="val 5814"/>
            </a:avLst>
          </a:prstGeom>
          <a:solidFill>
            <a:srgbClr val="111F32"/>
          </a:solidFill>
          <a:ln w="8255">
            <a:solidFill>
              <a:srgbClr val="1A305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011680" y="2249424"/>
            <a:ext cx="1609344" cy="36576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011680" y="2304288"/>
            <a:ext cx="1609344" cy="40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Server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0F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tools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011680" y="2705527"/>
            <a:ext cx="1609344" cy="2752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C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3785616" y="2249424"/>
            <a:ext cx="1609344" cy="786384"/>
          </a:xfrm>
          <a:prstGeom prst="roundRect">
            <a:avLst>
              <a:gd name="adj" fmla="val 5814"/>
            </a:avLst>
          </a:prstGeom>
          <a:solidFill>
            <a:srgbClr val="111F32"/>
          </a:solidFill>
          <a:ln w="8255">
            <a:solidFill>
              <a:srgbClr val="1A305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785616" y="2249424"/>
            <a:ext cx="1609344" cy="36576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785616" y="2304288"/>
            <a:ext cx="1609344" cy="40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0F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100/100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785616" y="2705527"/>
            <a:ext cx="1609344" cy="2752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C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5559552" y="2249424"/>
            <a:ext cx="1609344" cy="786384"/>
          </a:xfrm>
          <a:prstGeom prst="roundRect">
            <a:avLst>
              <a:gd name="adj" fmla="val 5814"/>
            </a:avLst>
          </a:prstGeom>
          <a:solidFill>
            <a:srgbClr val="111F32"/>
          </a:solidFill>
          <a:ln w="8255">
            <a:solidFill>
              <a:srgbClr val="1A305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559552" y="2249424"/>
            <a:ext cx="1609344" cy="36576"/>
          </a:xfrm>
          <a:prstGeom prst="rect">
            <a:avLst/>
          </a:prstGeom>
          <a:solidFill>
            <a:srgbClr val="5C7D9E"/>
          </a:solidFill>
          <a:ln w="12700">
            <a:solidFill>
              <a:srgbClr val="5C7D9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59552" y="2304288"/>
            <a:ext cx="1609344" cy="40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0F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559552" y="2705527"/>
            <a:ext cx="1609344" cy="2752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C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Vulns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7333488" y="2249424"/>
            <a:ext cx="1609344" cy="786384"/>
          </a:xfrm>
          <a:prstGeom prst="roundRect">
            <a:avLst>
              <a:gd name="adj" fmla="val 5814"/>
            </a:avLst>
          </a:prstGeom>
          <a:solidFill>
            <a:srgbClr val="111F32"/>
          </a:solidFill>
          <a:ln w="8255">
            <a:solidFill>
              <a:srgbClr val="1A305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333488" y="2249424"/>
            <a:ext cx="1609344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333488" y="2304288"/>
            <a:ext cx="1609344" cy="40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Blast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0F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Radius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333488" y="2705527"/>
            <a:ext cx="1609344" cy="2752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C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map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237744" y="3163824"/>
            <a:ext cx="8668512" cy="1828800"/>
          </a:xfrm>
          <a:prstGeom prst="rect">
            <a:avLst/>
          </a:prstGeom>
          <a:solidFill>
            <a:srgbClr val="0C1828"/>
          </a:solidFill>
          <a:ln w="8255">
            <a:solidFill>
              <a:srgbClr val="1A3050"/>
            </a:solidFill>
            <a:prstDash val="solid"/>
          </a:ln>
        </p:spPr>
      </p:sp>
      <p:pic>
        <p:nvPicPr>
          <p:cNvPr id="58" name="Image 0" descr="D:/NEEDLE/docs/Screenshot 2026-07-12 17415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3182112"/>
            <a:ext cx="8631936" cy="17922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INNOVATION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ideas that make Needle different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4169664" cy="1792224"/>
          </a:xfrm>
          <a:prstGeom prst="roundRect">
            <a:avLst>
              <a:gd name="adj" fmla="val 2551"/>
            </a:avLst>
          </a:prstGeom>
          <a:solidFill>
            <a:srgbClr val="111F32"/>
          </a:solidFill>
          <a:ln w="8255">
            <a:solidFill>
              <a:srgbClr val="1A30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4169664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117043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52144" y="1207008"/>
            <a:ext cx="33467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Reciprocal Rank Fusion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3504" y="1609344"/>
            <a:ext cx="3877056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(0.07ms, keyword) and HNSW kNN (3.47ms, semantic) run in parallel. RRF merges their ranked lists — neither alone achieves the same relevance quality.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28032" y="1078992"/>
            <a:ext cx="4169664" cy="1792224"/>
          </a:xfrm>
          <a:prstGeom prst="roundRect">
            <a:avLst>
              <a:gd name="adj" fmla="val 2551"/>
            </a:avLst>
          </a:prstGeom>
          <a:solidFill>
            <a:srgbClr val="111F32"/>
          </a:solidFill>
          <a:ln w="8255">
            <a:solidFill>
              <a:srgbClr val="1A30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8032" y="1078992"/>
            <a:ext cx="4169664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56048" y="117043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522976" y="1207008"/>
            <a:ext cx="33467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AST-aware Chunking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74336" y="1609344"/>
            <a:ext cx="3877056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Tree-sitter parses into function/class/method boundaries with exact line numbers. No mid-function splits — every chunk is semantically complete.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4169664" cy="1792224"/>
          </a:xfrm>
          <a:prstGeom prst="roundRect">
            <a:avLst>
              <a:gd name="adj" fmla="val 2551"/>
            </a:avLst>
          </a:prstGeom>
          <a:solidFill>
            <a:srgbClr val="111F32"/>
          </a:solidFill>
          <a:ln w="8255">
            <a:solidFill>
              <a:srgbClr val="1A30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017520"/>
            <a:ext cx="4169664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" y="3108960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52144" y="3145536"/>
            <a:ext cx="33467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Context Protocol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3504" y="3547872"/>
            <a:ext cx="3877056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tools over stdio JSON-RPC 2.0. Claude Code, Cursor, any custom agent gains full codebase awareness with one 5-line config — zero extra latency.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28032" y="3017520"/>
            <a:ext cx="4169664" cy="1792224"/>
          </a:xfrm>
          <a:prstGeom prst="roundRect">
            <a:avLst>
              <a:gd name="adj" fmla="val 2551"/>
            </a:avLst>
          </a:prstGeom>
          <a:solidFill>
            <a:srgbClr val="111F32"/>
          </a:solidFill>
          <a:ln w="8255">
            <a:solidFill>
              <a:srgbClr val="1A30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28032" y="3017520"/>
            <a:ext cx="4169664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3108960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22976" y="3145536"/>
            <a:ext cx="33467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Zero-dep Embedding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74336" y="3547872"/>
            <a:ext cx="3877056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Hash-projection (384-d) ships inside the binary — no Python, no model download. Optionally upgrades to Ollama nomic-embed-text for higher recall.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RESULTS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 on real hardware — 52-file Rust codebase, no GPU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377440" y="731520"/>
            <a:ext cx="438912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00E6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3.89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2377440" y="186537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 average end-to-end search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2231136"/>
          <a:ext cx="4572000" cy="27066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029200" y="2231136"/>
            <a:ext cx="3931920" cy="585216"/>
          </a:xfrm>
          <a:prstGeom prst="roundRect">
            <a:avLst>
              <a:gd name="adj" fmla="val 7813"/>
            </a:avLst>
          </a:prstGeom>
          <a:solidFill>
            <a:srgbClr val="111F32"/>
          </a:solidFill>
          <a:ln w="8255">
            <a:solidFill>
              <a:srgbClr val="1A305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120640" y="230428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E6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errors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583680" y="234086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50 concurrent requests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029200" y="2907792"/>
            <a:ext cx="3931920" cy="585216"/>
          </a:xfrm>
          <a:prstGeom prst="roundRect">
            <a:avLst>
              <a:gd name="adj" fmla="val 7813"/>
            </a:avLst>
          </a:prstGeom>
          <a:solidFill>
            <a:srgbClr val="111F32"/>
          </a:solidFill>
          <a:ln w="8255">
            <a:solidFill>
              <a:srgbClr val="1A305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120640" y="2980944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97.9ms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583680" y="3017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 at 50 concurrency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029200" y="3584448"/>
            <a:ext cx="3931920" cy="585216"/>
          </a:xfrm>
          <a:prstGeom prst="roundRect">
            <a:avLst>
              <a:gd name="adj" fmla="val 7813"/>
            </a:avLst>
          </a:prstGeom>
          <a:solidFill>
            <a:srgbClr val="111F32"/>
          </a:solidFill>
          <a:ln w="8255">
            <a:solidFill>
              <a:srgbClr val="1A305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120640" y="365760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8D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128ms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583680" y="369417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worst case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029200" y="4261104"/>
            <a:ext cx="3931920" cy="585216"/>
          </a:xfrm>
          <a:prstGeom prst="roundRect">
            <a:avLst>
              <a:gd name="adj" fmla="val 7813"/>
            </a:avLst>
          </a:prstGeom>
          <a:solidFill>
            <a:srgbClr val="111F32"/>
          </a:solidFill>
          <a:ln w="8255">
            <a:solidFill>
              <a:srgbClr val="1A305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20640" y="4334256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E6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100/100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583680" y="437083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 health score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274320" y="5047488"/>
            <a:ext cx="8631936" cy="0"/>
          </a:xfrm>
          <a:prstGeom prst="rect">
            <a:avLst/>
          </a:prstGeom>
          <a:solidFill>
            <a:srgbClr val="0C1828"/>
          </a:solidFill>
          <a:ln w="8255">
            <a:solidFill>
              <a:srgbClr val="1A305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Nobody else combines all four — here's the proof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78992"/>
            <a:ext cx="2011680" cy="457200"/>
          </a:xfrm>
          <a:prstGeom prst="roundRect">
            <a:avLst>
              <a:gd name="adj" fmla="val 10000"/>
            </a:avLst>
          </a:prstGeom>
          <a:solidFill>
            <a:srgbClr val="111F32"/>
          </a:solidFill>
          <a:ln w="8255">
            <a:solidFill>
              <a:srgbClr val="1A30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7899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C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322576" y="1078992"/>
            <a:ext cx="1115568" cy="457200"/>
          </a:xfrm>
          <a:prstGeom prst="roundRect">
            <a:avLst>
              <a:gd name="adj" fmla="val 10000"/>
            </a:avLst>
          </a:prstGeom>
          <a:solidFill>
            <a:srgbClr val="0C1828"/>
          </a:solidFill>
          <a:ln w="8255">
            <a:solidFill>
              <a:srgbClr val="00C8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22576" y="1078992"/>
            <a:ext cx="1115568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22576" y="1078992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Needle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74720" y="1078992"/>
            <a:ext cx="1115568" cy="457200"/>
          </a:xfrm>
          <a:prstGeom prst="roundRect">
            <a:avLst>
              <a:gd name="adj" fmla="val 10000"/>
            </a:avLst>
          </a:prstGeom>
          <a:solidFill>
            <a:srgbClr val="111F32"/>
          </a:solidFill>
          <a:ln w="8255">
            <a:solidFill>
              <a:srgbClr val="1A30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078992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5C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5C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26864" y="1078992"/>
            <a:ext cx="1115568" cy="457200"/>
          </a:xfrm>
          <a:prstGeom prst="roundRect">
            <a:avLst>
              <a:gd name="adj" fmla="val 10000"/>
            </a:avLst>
          </a:prstGeom>
          <a:solidFill>
            <a:srgbClr val="111F32"/>
          </a:solidFill>
          <a:ln w="8255">
            <a:solidFill>
              <a:srgbClr val="1A30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26864" y="1078992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5C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Sourcegraph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779008" y="1078992"/>
            <a:ext cx="1024128" cy="457200"/>
          </a:xfrm>
          <a:prstGeom prst="roundRect">
            <a:avLst>
              <a:gd name="adj" fmla="val 10000"/>
            </a:avLst>
          </a:prstGeom>
          <a:solidFill>
            <a:srgbClr val="111F32"/>
          </a:solidFill>
          <a:ln w="8255">
            <a:solidFill>
              <a:srgbClr val="1A30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79008" y="1078992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5C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ripgrep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839712" y="1078992"/>
            <a:ext cx="1024128" cy="457200"/>
          </a:xfrm>
          <a:prstGeom prst="roundRect">
            <a:avLst>
              <a:gd name="adj" fmla="val 10000"/>
            </a:avLst>
          </a:prstGeom>
          <a:solidFill>
            <a:srgbClr val="111F32"/>
          </a:solidFill>
          <a:ln w="8255">
            <a:solidFill>
              <a:srgbClr val="1A30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39712" y="1078992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5C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Codeium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1572768"/>
            <a:ext cx="2011680" cy="475488"/>
          </a:xfrm>
          <a:prstGeom prst="rect">
            <a:avLst/>
          </a:prstGeom>
          <a:solidFill>
            <a:srgbClr val="111F32"/>
          </a:solidFill>
          <a:ln w="3810">
            <a:solidFill>
              <a:srgbClr val="1A30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7276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vector search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322576" y="1572768"/>
            <a:ext cx="1115568" cy="475488"/>
          </a:xfrm>
          <a:prstGeom prst="rect">
            <a:avLst/>
          </a:prstGeom>
          <a:solidFill>
            <a:srgbClr val="0E1D30"/>
          </a:solidFill>
          <a:ln w="3810">
            <a:solidFill>
              <a:srgbClr val="1A30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22576" y="1572768"/>
            <a:ext cx="1115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474720" y="1572768"/>
            <a:ext cx="1115568" cy="475488"/>
          </a:xfrm>
          <a:prstGeom prst="rect">
            <a:avLst/>
          </a:prstGeom>
          <a:solidFill>
            <a:srgbClr val="111F32"/>
          </a:solidFill>
          <a:ln w="3810">
            <a:solidFill>
              <a:srgbClr val="1A30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72768"/>
            <a:ext cx="1115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626864" y="1572768"/>
            <a:ext cx="1115568" cy="475488"/>
          </a:xfrm>
          <a:prstGeom prst="rect">
            <a:avLst/>
          </a:prstGeom>
          <a:solidFill>
            <a:srgbClr val="111F32"/>
          </a:solidFill>
          <a:ln w="3810">
            <a:solidFill>
              <a:srgbClr val="1A30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26864" y="1572768"/>
            <a:ext cx="1115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779008" y="1572768"/>
            <a:ext cx="1024128" cy="475488"/>
          </a:xfrm>
          <a:prstGeom prst="rect">
            <a:avLst/>
          </a:prstGeom>
          <a:solidFill>
            <a:srgbClr val="111F32"/>
          </a:solidFill>
          <a:ln w="3810">
            <a:solidFill>
              <a:srgbClr val="1A30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79008" y="1572768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839712" y="1572768"/>
            <a:ext cx="1024128" cy="475488"/>
          </a:xfrm>
          <a:prstGeom prst="rect">
            <a:avLst/>
          </a:prstGeom>
          <a:solidFill>
            <a:srgbClr val="111F32"/>
          </a:solidFill>
          <a:ln w="3810">
            <a:solidFill>
              <a:srgbClr val="1A30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39712" y="1572768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74320" y="2084832"/>
            <a:ext cx="2011680" cy="475488"/>
          </a:xfrm>
          <a:prstGeom prst="rect">
            <a:avLst/>
          </a:prstGeom>
          <a:solidFill>
            <a:srgbClr val="060E1A"/>
          </a:solidFill>
          <a:ln w="3810">
            <a:solidFill>
              <a:srgbClr val="1A30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208483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graph / AST graph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322576" y="2084832"/>
            <a:ext cx="1115568" cy="475488"/>
          </a:xfrm>
          <a:prstGeom prst="rect">
            <a:avLst/>
          </a:prstGeom>
          <a:solidFill>
            <a:srgbClr val="0E1D30"/>
          </a:solidFill>
          <a:ln w="3810">
            <a:solidFill>
              <a:srgbClr val="1A30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22576" y="2084832"/>
            <a:ext cx="1115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474720" y="2084832"/>
            <a:ext cx="1115568" cy="475488"/>
          </a:xfrm>
          <a:prstGeom prst="rect">
            <a:avLst/>
          </a:prstGeom>
          <a:solidFill>
            <a:srgbClr val="060E1A"/>
          </a:solidFill>
          <a:ln w="3810">
            <a:solidFill>
              <a:srgbClr val="1A30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0" y="2084832"/>
            <a:ext cx="1115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626864" y="2084832"/>
            <a:ext cx="1115568" cy="475488"/>
          </a:xfrm>
          <a:prstGeom prst="rect">
            <a:avLst/>
          </a:prstGeom>
          <a:solidFill>
            <a:srgbClr val="060E1A"/>
          </a:solidFill>
          <a:ln w="3810">
            <a:solidFill>
              <a:srgbClr val="1A30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26864" y="2084832"/>
            <a:ext cx="1115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779008" y="2084832"/>
            <a:ext cx="1024128" cy="475488"/>
          </a:xfrm>
          <a:prstGeom prst="rect">
            <a:avLst/>
          </a:prstGeom>
          <a:solidFill>
            <a:srgbClr val="060E1A"/>
          </a:solidFill>
          <a:ln w="3810">
            <a:solidFill>
              <a:srgbClr val="1A30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79008" y="2084832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839712" y="2084832"/>
            <a:ext cx="1024128" cy="475488"/>
          </a:xfrm>
          <a:prstGeom prst="rect">
            <a:avLst/>
          </a:prstGeom>
          <a:solidFill>
            <a:srgbClr val="060E1A"/>
          </a:solidFill>
          <a:ln w="3810">
            <a:solidFill>
              <a:srgbClr val="1A305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39712" y="2084832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274320" y="2596896"/>
            <a:ext cx="2011680" cy="475488"/>
          </a:xfrm>
          <a:prstGeom prst="rect">
            <a:avLst/>
          </a:prstGeom>
          <a:solidFill>
            <a:srgbClr val="111F32"/>
          </a:solidFill>
          <a:ln w="3810">
            <a:solidFill>
              <a:srgbClr val="1A30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2596896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/ AI agent tools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322576" y="2596896"/>
            <a:ext cx="1115568" cy="475488"/>
          </a:xfrm>
          <a:prstGeom prst="rect">
            <a:avLst/>
          </a:prstGeom>
          <a:solidFill>
            <a:srgbClr val="0E1D30"/>
          </a:solidFill>
          <a:ln w="3810">
            <a:solidFill>
              <a:srgbClr val="1A30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22576" y="2596896"/>
            <a:ext cx="1115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474720" y="2596896"/>
            <a:ext cx="1115568" cy="475488"/>
          </a:xfrm>
          <a:prstGeom prst="rect">
            <a:avLst/>
          </a:prstGeom>
          <a:solidFill>
            <a:srgbClr val="111F32"/>
          </a:solidFill>
          <a:ln w="3810">
            <a:solidFill>
              <a:srgbClr val="1A305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74720" y="2596896"/>
            <a:ext cx="1115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4626864" y="2596896"/>
            <a:ext cx="1115568" cy="475488"/>
          </a:xfrm>
          <a:prstGeom prst="rect">
            <a:avLst/>
          </a:prstGeom>
          <a:solidFill>
            <a:srgbClr val="111F32"/>
          </a:solidFill>
          <a:ln w="3810">
            <a:solidFill>
              <a:srgbClr val="1A305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26864" y="2596896"/>
            <a:ext cx="1115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5779008" y="2596896"/>
            <a:ext cx="1024128" cy="475488"/>
          </a:xfrm>
          <a:prstGeom prst="rect">
            <a:avLst/>
          </a:prstGeom>
          <a:solidFill>
            <a:srgbClr val="111F32"/>
          </a:solidFill>
          <a:ln w="3810">
            <a:solidFill>
              <a:srgbClr val="1A305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779008" y="2596896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6839712" y="2596896"/>
            <a:ext cx="1024128" cy="475488"/>
          </a:xfrm>
          <a:prstGeom prst="rect">
            <a:avLst/>
          </a:prstGeom>
          <a:solidFill>
            <a:srgbClr val="111F32"/>
          </a:solidFill>
          <a:ln w="3810">
            <a:solidFill>
              <a:srgbClr val="1A305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39712" y="2596896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274320" y="3108960"/>
            <a:ext cx="2011680" cy="475488"/>
          </a:xfrm>
          <a:prstGeom prst="rect">
            <a:avLst/>
          </a:prstGeom>
          <a:solidFill>
            <a:srgbClr val="060E1A"/>
          </a:solidFill>
          <a:ln w="3810">
            <a:solidFill>
              <a:srgbClr val="1A305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5760" y="310896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local / offline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322576" y="3108960"/>
            <a:ext cx="1115568" cy="475488"/>
          </a:xfrm>
          <a:prstGeom prst="rect">
            <a:avLst/>
          </a:prstGeom>
          <a:solidFill>
            <a:srgbClr val="0E1D30"/>
          </a:solidFill>
          <a:ln w="3810">
            <a:solidFill>
              <a:srgbClr val="1A305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322576" y="3108960"/>
            <a:ext cx="1115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3474720" y="3108960"/>
            <a:ext cx="1115568" cy="475488"/>
          </a:xfrm>
          <a:prstGeom prst="rect">
            <a:avLst/>
          </a:prstGeom>
          <a:solidFill>
            <a:srgbClr val="060E1A"/>
          </a:solidFill>
          <a:ln w="3810">
            <a:solidFill>
              <a:srgbClr val="1A305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474720" y="3108960"/>
            <a:ext cx="1115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4626864" y="3108960"/>
            <a:ext cx="1115568" cy="475488"/>
          </a:xfrm>
          <a:prstGeom prst="rect">
            <a:avLst/>
          </a:prstGeom>
          <a:solidFill>
            <a:srgbClr val="060E1A"/>
          </a:solidFill>
          <a:ln w="3810">
            <a:solidFill>
              <a:srgbClr val="1A305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626864" y="3108960"/>
            <a:ext cx="1115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5779008" y="3108960"/>
            <a:ext cx="1024128" cy="475488"/>
          </a:xfrm>
          <a:prstGeom prst="rect">
            <a:avLst/>
          </a:prstGeom>
          <a:solidFill>
            <a:srgbClr val="060E1A"/>
          </a:solidFill>
          <a:ln w="3810">
            <a:solidFill>
              <a:srgbClr val="1A305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779008" y="3108960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6839712" y="3108960"/>
            <a:ext cx="1024128" cy="475488"/>
          </a:xfrm>
          <a:prstGeom prst="rect">
            <a:avLst/>
          </a:prstGeom>
          <a:solidFill>
            <a:srgbClr val="060E1A"/>
          </a:solidFill>
          <a:ln w="3810">
            <a:solidFill>
              <a:srgbClr val="1A305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839712" y="3108960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274320" y="3621024"/>
            <a:ext cx="2011680" cy="475488"/>
          </a:xfrm>
          <a:prstGeom prst="rect">
            <a:avLst/>
          </a:prstGeom>
          <a:solidFill>
            <a:srgbClr val="111F32"/>
          </a:solidFill>
          <a:ln w="3810">
            <a:solidFill>
              <a:srgbClr val="1A305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65760" y="3621024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+ analysis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2322576" y="3621024"/>
            <a:ext cx="1115568" cy="475488"/>
          </a:xfrm>
          <a:prstGeom prst="rect">
            <a:avLst/>
          </a:prstGeom>
          <a:solidFill>
            <a:srgbClr val="0E1D30"/>
          </a:solidFill>
          <a:ln w="3810">
            <a:solidFill>
              <a:srgbClr val="1A305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322576" y="3621024"/>
            <a:ext cx="1115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3474720" y="3621024"/>
            <a:ext cx="1115568" cy="475488"/>
          </a:xfrm>
          <a:prstGeom prst="rect">
            <a:avLst/>
          </a:prstGeom>
          <a:solidFill>
            <a:srgbClr val="111F32"/>
          </a:solidFill>
          <a:ln w="3810">
            <a:solidFill>
              <a:srgbClr val="1A305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474720" y="3621024"/>
            <a:ext cx="1115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4626864" y="3621024"/>
            <a:ext cx="1115568" cy="475488"/>
          </a:xfrm>
          <a:prstGeom prst="rect">
            <a:avLst/>
          </a:prstGeom>
          <a:solidFill>
            <a:srgbClr val="111F32"/>
          </a:solidFill>
          <a:ln w="3810">
            <a:solidFill>
              <a:srgbClr val="1A305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626864" y="3621024"/>
            <a:ext cx="1115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73" name="Shape 71"/>
          <p:cNvSpPr/>
          <p:nvPr/>
        </p:nvSpPr>
        <p:spPr>
          <a:xfrm>
            <a:off x="5779008" y="3621024"/>
            <a:ext cx="1024128" cy="475488"/>
          </a:xfrm>
          <a:prstGeom prst="rect">
            <a:avLst/>
          </a:prstGeom>
          <a:solidFill>
            <a:srgbClr val="111F32"/>
          </a:solidFill>
          <a:ln w="3810">
            <a:solidFill>
              <a:srgbClr val="1A305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779008" y="3621024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75" name="Shape 73"/>
          <p:cNvSpPr/>
          <p:nvPr/>
        </p:nvSpPr>
        <p:spPr>
          <a:xfrm>
            <a:off x="6839712" y="3621024"/>
            <a:ext cx="1024128" cy="475488"/>
          </a:xfrm>
          <a:prstGeom prst="rect">
            <a:avLst/>
          </a:prstGeom>
          <a:solidFill>
            <a:srgbClr val="111F32"/>
          </a:solidFill>
          <a:ln w="3810">
            <a:solidFill>
              <a:srgbClr val="1A305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839712" y="3621024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77" name="Shape 75"/>
          <p:cNvSpPr/>
          <p:nvPr/>
        </p:nvSpPr>
        <p:spPr>
          <a:xfrm>
            <a:off x="274320" y="4133088"/>
            <a:ext cx="2011680" cy="475488"/>
          </a:xfrm>
          <a:prstGeom prst="rect">
            <a:avLst/>
          </a:prstGeom>
          <a:solidFill>
            <a:srgbClr val="060E1A"/>
          </a:solidFill>
          <a:ln w="3810">
            <a:solidFill>
              <a:srgbClr val="1A305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65760" y="413308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scanner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2322576" y="4133088"/>
            <a:ext cx="1115568" cy="475488"/>
          </a:xfrm>
          <a:prstGeom prst="rect">
            <a:avLst/>
          </a:prstGeom>
          <a:solidFill>
            <a:srgbClr val="0E1D30"/>
          </a:solidFill>
          <a:ln w="3810">
            <a:solidFill>
              <a:srgbClr val="1A305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322576" y="4133088"/>
            <a:ext cx="1115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1" name="Shape 79"/>
          <p:cNvSpPr/>
          <p:nvPr/>
        </p:nvSpPr>
        <p:spPr>
          <a:xfrm>
            <a:off x="3474720" y="4133088"/>
            <a:ext cx="1115568" cy="475488"/>
          </a:xfrm>
          <a:prstGeom prst="rect">
            <a:avLst/>
          </a:prstGeom>
          <a:solidFill>
            <a:srgbClr val="060E1A"/>
          </a:solidFill>
          <a:ln w="3810">
            <a:solidFill>
              <a:srgbClr val="1A305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474720" y="4133088"/>
            <a:ext cx="1115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83" name="Shape 81"/>
          <p:cNvSpPr/>
          <p:nvPr/>
        </p:nvSpPr>
        <p:spPr>
          <a:xfrm>
            <a:off x="4626864" y="4133088"/>
            <a:ext cx="1115568" cy="475488"/>
          </a:xfrm>
          <a:prstGeom prst="rect">
            <a:avLst/>
          </a:prstGeom>
          <a:solidFill>
            <a:srgbClr val="060E1A"/>
          </a:solidFill>
          <a:ln w="3810">
            <a:solidFill>
              <a:srgbClr val="1A305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626864" y="4133088"/>
            <a:ext cx="1115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5779008" y="4133088"/>
            <a:ext cx="1024128" cy="475488"/>
          </a:xfrm>
          <a:prstGeom prst="rect">
            <a:avLst/>
          </a:prstGeom>
          <a:solidFill>
            <a:srgbClr val="060E1A"/>
          </a:solidFill>
          <a:ln w="3810">
            <a:solidFill>
              <a:srgbClr val="1A305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779008" y="4133088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87" name="Shape 85"/>
          <p:cNvSpPr/>
          <p:nvPr/>
        </p:nvSpPr>
        <p:spPr>
          <a:xfrm>
            <a:off x="6839712" y="4133088"/>
            <a:ext cx="1024128" cy="475488"/>
          </a:xfrm>
          <a:prstGeom prst="rect">
            <a:avLst/>
          </a:prstGeom>
          <a:solidFill>
            <a:srgbClr val="060E1A"/>
          </a:solidFill>
          <a:ln w="3810">
            <a:solidFill>
              <a:srgbClr val="1A305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839712" y="4133088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89" name="Shape 87"/>
          <p:cNvSpPr/>
          <p:nvPr/>
        </p:nvSpPr>
        <p:spPr>
          <a:xfrm>
            <a:off x="274320" y="4645152"/>
            <a:ext cx="2011680" cy="475488"/>
          </a:xfrm>
          <a:prstGeom prst="rect">
            <a:avLst/>
          </a:prstGeom>
          <a:solidFill>
            <a:srgbClr val="111F32"/>
          </a:solidFill>
          <a:ln w="3810">
            <a:solidFill>
              <a:srgbClr val="1A305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65760" y="464515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(MIT)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2322576" y="4645152"/>
            <a:ext cx="1115568" cy="475488"/>
          </a:xfrm>
          <a:prstGeom prst="rect">
            <a:avLst/>
          </a:prstGeom>
          <a:solidFill>
            <a:srgbClr val="0E1D30"/>
          </a:solidFill>
          <a:ln w="3810">
            <a:solidFill>
              <a:srgbClr val="1A305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322576" y="4645152"/>
            <a:ext cx="1115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3" name="Shape 91"/>
          <p:cNvSpPr/>
          <p:nvPr/>
        </p:nvSpPr>
        <p:spPr>
          <a:xfrm>
            <a:off x="3474720" y="4645152"/>
            <a:ext cx="1115568" cy="475488"/>
          </a:xfrm>
          <a:prstGeom prst="rect">
            <a:avLst/>
          </a:prstGeom>
          <a:solidFill>
            <a:srgbClr val="111F32"/>
          </a:solidFill>
          <a:ln w="3810">
            <a:solidFill>
              <a:srgbClr val="1A305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474720" y="4645152"/>
            <a:ext cx="1115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95" name="Shape 93"/>
          <p:cNvSpPr/>
          <p:nvPr/>
        </p:nvSpPr>
        <p:spPr>
          <a:xfrm>
            <a:off x="4626864" y="4645152"/>
            <a:ext cx="1115568" cy="475488"/>
          </a:xfrm>
          <a:prstGeom prst="rect">
            <a:avLst/>
          </a:prstGeom>
          <a:solidFill>
            <a:srgbClr val="111F32"/>
          </a:solidFill>
          <a:ln w="3810">
            <a:solidFill>
              <a:srgbClr val="1A305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626864" y="4645152"/>
            <a:ext cx="1115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400" dirty="0"/>
          </a:p>
        </p:txBody>
      </p:sp>
      <p:sp>
        <p:nvSpPr>
          <p:cNvPr id="97" name="Shape 95"/>
          <p:cNvSpPr/>
          <p:nvPr/>
        </p:nvSpPr>
        <p:spPr>
          <a:xfrm>
            <a:off x="5779008" y="4645152"/>
            <a:ext cx="1024128" cy="475488"/>
          </a:xfrm>
          <a:prstGeom prst="rect">
            <a:avLst/>
          </a:prstGeom>
          <a:solidFill>
            <a:srgbClr val="111F32"/>
          </a:solidFill>
          <a:ln w="3810">
            <a:solidFill>
              <a:srgbClr val="1A305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5779008" y="4645152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9" name="Shape 97"/>
          <p:cNvSpPr/>
          <p:nvPr/>
        </p:nvSpPr>
        <p:spPr>
          <a:xfrm>
            <a:off x="6839712" y="4645152"/>
            <a:ext cx="1024128" cy="475488"/>
          </a:xfrm>
          <a:prstGeom prst="rect">
            <a:avLst/>
          </a:prstGeom>
          <a:solidFill>
            <a:srgbClr val="111F32"/>
          </a:solidFill>
          <a:ln w="3810">
            <a:solidFill>
              <a:srgbClr val="1A305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839712" y="4645152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01" name="Text 99"/>
          <p:cNvSpPr/>
          <p:nvPr/>
        </p:nvSpPr>
        <p:spPr>
          <a:xfrm>
            <a:off x="7863840" y="4653944"/>
            <a:ext cx="914399" cy="3794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C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Full  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5C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Partial 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5C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✗ Not available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seconds — six steps — full codebase intelligence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8412480" cy="548640"/>
          </a:xfrm>
          <a:prstGeom prst="roundRect">
            <a:avLst>
              <a:gd name="adj" fmla="val 8333"/>
            </a:avLst>
          </a:prstGeom>
          <a:solidFill>
            <a:srgbClr val="111F32"/>
          </a:solidFill>
          <a:ln w="8255">
            <a:solidFill>
              <a:srgbClr val="1A30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1161288"/>
            <a:ext cx="384048" cy="384048"/>
          </a:xfrm>
          <a:prstGeom prst="ellipse">
            <a:avLst/>
          </a:prstGeom>
          <a:solidFill>
            <a:srgbClr val="00C8FF">
              <a:alpha val="18000"/>
            </a:srgbClr>
          </a:solidFill>
          <a:ln w="8890">
            <a:solidFill>
              <a:srgbClr val="00C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1612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42416" y="1188720"/>
            <a:ext cx="3401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cargo install needle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98848" y="1280160"/>
            <a:ext cx="36576" cy="201168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0288" y="1170432"/>
            <a:ext cx="4151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sec · single binary · Rust 1.75+ required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1719072"/>
            <a:ext cx="8412480" cy="548640"/>
          </a:xfrm>
          <a:prstGeom prst="roundRect">
            <a:avLst>
              <a:gd name="adj" fmla="val 8333"/>
            </a:avLst>
          </a:prstGeom>
          <a:solidFill>
            <a:srgbClr val="111F32"/>
          </a:solidFill>
          <a:ln w="8255">
            <a:solidFill>
              <a:srgbClr val="1A30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1801368"/>
            <a:ext cx="384048" cy="384048"/>
          </a:xfrm>
          <a:prstGeom prst="ellipse">
            <a:avLst/>
          </a:prstGeom>
          <a:solidFill>
            <a:srgbClr val="00C8FF">
              <a:alpha val="18000"/>
            </a:srgbClr>
          </a:solidFill>
          <a:ln w="8890">
            <a:solidFill>
              <a:srgbClr val="00C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801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42416" y="1828800"/>
            <a:ext cx="3401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needle init 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98848" y="1920240"/>
            <a:ext cx="36576" cy="201168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0288" y="1810512"/>
            <a:ext cx="4151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0.2s · 52 files · 462 chunks · 440 graph nodes · 827 edges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359152"/>
            <a:ext cx="8412480" cy="548640"/>
          </a:xfrm>
          <a:prstGeom prst="roundRect">
            <a:avLst>
              <a:gd name="adj" fmla="val 8333"/>
            </a:avLst>
          </a:prstGeom>
          <a:solidFill>
            <a:srgbClr val="111F32"/>
          </a:solidFill>
          <a:ln w="8255">
            <a:solidFill>
              <a:srgbClr val="1A30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2441448"/>
            <a:ext cx="384048" cy="384048"/>
          </a:xfrm>
          <a:prstGeom prst="ellipse">
            <a:avLst/>
          </a:prstGeom>
          <a:solidFill>
            <a:srgbClr val="00C8FF">
              <a:alpha val="18000"/>
            </a:srgbClr>
          </a:solidFill>
          <a:ln w="8890">
            <a:solidFill>
              <a:srgbClr val="00C8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24414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42416" y="2468880"/>
            <a:ext cx="3401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needle serve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98848" y="2560320"/>
            <a:ext cx="36576" cy="201168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90288" y="2450592"/>
            <a:ext cx="4151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at localhost:7700 · MCP server on stdio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2999232"/>
            <a:ext cx="8412480" cy="548640"/>
          </a:xfrm>
          <a:prstGeom prst="roundRect">
            <a:avLst>
              <a:gd name="adj" fmla="val 8333"/>
            </a:avLst>
          </a:prstGeom>
          <a:solidFill>
            <a:srgbClr val="111F32"/>
          </a:solidFill>
          <a:ln w="8255">
            <a:solidFill>
              <a:srgbClr val="1A30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0352" y="3081528"/>
            <a:ext cx="384048" cy="384048"/>
          </a:xfrm>
          <a:prstGeom prst="ellipse">
            <a:avLst/>
          </a:prstGeom>
          <a:solidFill>
            <a:srgbClr val="00C8FF">
              <a:alpha val="18000"/>
            </a:srgbClr>
          </a:solidFill>
          <a:ln w="8890">
            <a:solidFill>
              <a:srgbClr val="00C8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30815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42416" y="3108960"/>
            <a:ext cx="3401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Search: "query engine"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498848" y="3200400"/>
            <a:ext cx="36576" cy="201168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90288" y="3090672"/>
            <a:ext cx="4151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results · 2.6ms · exact file + line number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3639312"/>
            <a:ext cx="8412480" cy="548640"/>
          </a:xfrm>
          <a:prstGeom prst="roundRect">
            <a:avLst>
              <a:gd name="adj" fmla="val 8333"/>
            </a:avLst>
          </a:prstGeom>
          <a:solidFill>
            <a:srgbClr val="111F32"/>
          </a:solidFill>
          <a:ln w="8255">
            <a:solidFill>
              <a:srgbClr val="1A30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0352" y="3721608"/>
            <a:ext cx="384048" cy="384048"/>
          </a:xfrm>
          <a:prstGeom prst="ellipse">
            <a:avLst/>
          </a:prstGeom>
          <a:solidFill>
            <a:srgbClr val="00C8FF">
              <a:alpha val="18000"/>
            </a:srgbClr>
          </a:solidFill>
          <a:ln w="8890">
            <a:solidFill>
              <a:srgbClr val="00C8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3721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42416" y="3749040"/>
            <a:ext cx="3401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 → click node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498848" y="3840480"/>
            <a:ext cx="36576" cy="201168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90288" y="3730752"/>
            <a:ext cx="4151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Callers + callees panel · blast radius on hover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4279392"/>
            <a:ext cx="8412480" cy="548640"/>
          </a:xfrm>
          <a:prstGeom prst="roundRect">
            <a:avLst>
              <a:gd name="adj" fmla="val 8333"/>
            </a:avLst>
          </a:prstGeom>
          <a:solidFill>
            <a:srgbClr val="111F32"/>
          </a:solidFill>
          <a:ln w="8255">
            <a:solidFill>
              <a:srgbClr val="1A305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0352" y="4361688"/>
            <a:ext cx="384048" cy="384048"/>
          </a:xfrm>
          <a:prstGeom prst="ellipse">
            <a:avLst/>
          </a:prstGeom>
          <a:solidFill>
            <a:srgbClr val="00C8FF">
              <a:alpha val="18000"/>
            </a:srgbClr>
          </a:solidFill>
          <a:ln w="8890">
            <a:solidFill>
              <a:srgbClr val="00C8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0352" y="43616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42416" y="4389120"/>
            <a:ext cx="3401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 + Security tabs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498848" y="4480560"/>
            <a:ext cx="36576" cy="201168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90288" y="4370832"/>
            <a:ext cx="4151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100/100 · 3 High · 11 Medium · 5 Low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" y="4956048"/>
            <a:ext cx="8412480" cy="0"/>
          </a:xfrm>
          <a:prstGeom prst="rect">
            <a:avLst/>
          </a:prstGeom>
          <a:solidFill>
            <a:srgbClr val="0C1828"/>
          </a:solidFill>
          <a:ln w="8255">
            <a:solidFill>
              <a:srgbClr val="1A30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4234" y="4901184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running at  https://needle-4kdk.onrender.com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changes for the developer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8412480" cy="749808"/>
          </a:xfrm>
          <a:prstGeom prst="roundRect">
            <a:avLst>
              <a:gd name="adj" fmla="val 6098"/>
            </a:avLst>
          </a:prstGeom>
          <a:solidFill>
            <a:srgbClr val="111F32"/>
          </a:solidFill>
          <a:ln w="8255">
            <a:solidFill>
              <a:srgbClr val="1A30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078992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a function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090672" y="1243584"/>
            <a:ext cx="27432" cy="420624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82112" y="1078992"/>
            <a:ext cx="14447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 min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700016" y="1353312"/>
            <a:ext cx="256032" cy="201168"/>
          </a:xfrm>
          <a:prstGeom prst="rightArrow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078992"/>
            <a:ext cx="14447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E6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&lt;4 ms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601968" y="1243584"/>
            <a:ext cx="27432" cy="420624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93408" y="1078992"/>
            <a:ext cx="204825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C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350,000×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57200" y="1956816"/>
            <a:ext cx="8412480" cy="749808"/>
          </a:xfrm>
          <a:prstGeom prst="roundRect">
            <a:avLst>
              <a:gd name="adj" fmla="val 6098"/>
            </a:avLst>
          </a:prstGeom>
          <a:solidFill>
            <a:srgbClr val="111F32"/>
          </a:solidFill>
          <a:ln w="8255">
            <a:solidFill>
              <a:srgbClr val="1A30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" y="1956816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a call chain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090672" y="2121408"/>
            <a:ext cx="27432" cy="420624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82112" y="1956816"/>
            <a:ext cx="14447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min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700016" y="2231136"/>
            <a:ext cx="256032" cy="201168"/>
          </a:xfrm>
          <a:prstGeom prst="rightArrow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1956816"/>
            <a:ext cx="14447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E6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click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601968" y="2121408"/>
            <a:ext cx="27432" cy="420624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93408" y="1956816"/>
            <a:ext cx="204825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C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57200" y="2834640"/>
            <a:ext cx="8412480" cy="749808"/>
          </a:xfrm>
          <a:prstGeom prst="roundRect">
            <a:avLst>
              <a:gd name="adj" fmla="val 6098"/>
            </a:avLst>
          </a:prstGeom>
          <a:solidFill>
            <a:srgbClr val="111F32"/>
          </a:solidFill>
          <a:ln w="8255">
            <a:solidFill>
              <a:srgbClr val="1A30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" y="2834640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audit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090672" y="2999232"/>
            <a:ext cx="27432" cy="420624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82112" y="2834640"/>
            <a:ext cx="14447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days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4700016" y="3108960"/>
            <a:ext cx="256032" cy="201168"/>
          </a:xfrm>
          <a:prstGeom prst="rightArrow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2834640"/>
            <a:ext cx="14447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E6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sec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601968" y="2999232"/>
            <a:ext cx="27432" cy="420624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93408" y="2834640"/>
            <a:ext cx="204825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C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115,000×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457200" y="3712464"/>
            <a:ext cx="8412480" cy="749808"/>
          </a:xfrm>
          <a:prstGeom prst="roundRect">
            <a:avLst>
              <a:gd name="adj" fmla="val 6098"/>
            </a:avLst>
          </a:prstGeom>
          <a:solidFill>
            <a:srgbClr val="111F32"/>
          </a:solidFill>
          <a:ln w="8255">
            <a:solidFill>
              <a:srgbClr val="1A30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3504" y="3712464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new dev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090672" y="3877056"/>
            <a:ext cx="27432" cy="420624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82112" y="3712464"/>
            <a:ext cx="14447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weeks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4700016" y="3986784"/>
            <a:ext cx="256032" cy="201168"/>
          </a:xfrm>
          <a:prstGeom prst="rightArrow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3712464"/>
            <a:ext cx="14447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E6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hours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6601968" y="3877056"/>
            <a:ext cx="27432" cy="420624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93408" y="3712464"/>
            <a:ext cx="204825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C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80×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914400" y="462686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E6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47%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3566160" y="462686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E6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10×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6217920" y="462686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E6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$84K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seconds from zero to full codebase search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5029200" cy="841248"/>
          </a:xfrm>
          <a:prstGeom prst="roundRect">
            <a:avLst>
              <a:gd name="adj" fmla="val 5435"/>
            </a:avLst>
          </a:prstGeom>
          <a:solidFill>
            <a:srgbClr val="111F32"/>
          </a:solidFill>
          <a:ln w="8255">
            <a:solidFill>
              <a:srgbClr val="1A30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402336" cy="402336"/>
          </a:xfrm>
          <a:prstGeom prst="ellipse">
            <a:avLst/>
          </a:prstGeom>
          <a:solidFill>
            <a:srgbClr val="00C8FF">
              <a:alpha val="20000"/>
            </a:srgbClr>
          </a:solidFill>
          <a:ln w="8890">
            <a:solidFill>
              <a:srgbClr val="00C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87552" y="1225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cargo install needle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87552" y="15727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Installs the binary from crates.io. Rust 1.75+ required.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84064" y="1316736"/>
            <a:ext cx="1042416" cy="329184"/>
          </a:xfrm>
          <a:prstGeom prst="roundRect">
            <a:avLst>
              <a:gd name="adj" fmla="val 13889"/>
            </a:avLst>
          </a:prstGeom>
          <a:solidFill>
            <a:srgbClr val="060E1A"/>
          </a:solidFill>
          <a:ln w="8255">
            <a:solidFill>
              <a:srgbClr val="00E6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84064" y="1316736"/>
            <a:ext cx="10424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066544"/>
            <a:ext cx="5029200" cy="841248"/>
          </a:xfrm>
          <a:prstGeom prst="roundRect">
            <a:avLst>
              <a:gd name="adj" fmla="val 5435"/>
            </a:avLst>
          </a:prstGeom>
          <a:solidFill>
            <a:srgbClr val="111F32"/>
          </a:solidFill>
          <a:ln w="8255">
            <a:solidFill>
              <a:srgbClr val="1A30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267712"/>
            <a:ext cx="402336" cy="402336"/>
          </a:xfrm>
          <a:prstGeom prst="ellipse">
            <a:avLst/>
          </a:prstGeom>
          <a:solidFill>
            <a:srgbClr val="00C8FF">
              <a:alpha val="20000"/>
            </a:srgbClr>
          </a:solidFill>
          <a:ln w="8890">
            <a:solidFill>
              <a:srgbClr val="00C8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2677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87552" y="221284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needle init 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87552" y="25603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source, builds BM25 + HNSW indexes, extracts call graph.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84064" y="2304288"/>
            <a:ext cx="1042416" cy="329184"/>
          </a:xfrm>
          <a:prstGeom prst="roundRect">
            <a:avLst>
              <a:gd name="adj" fmla="val 13889"/>
            </a:avLst>
          </a:prstGeom>
          <a:solidFill>
            <a:srgbClr val="060E1A"/>
          </a:solidFill>
          <a:ln w="8255">
            <a:solidFill>
              <a:srgbClr val="00E6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84064" y="2304288"/>
            <a:ext cx="10424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054096"/>
            <a:ext cx="5029200" cy="841248"/>
          </a:xfrm>
          <a:prstGeom prst="roundRect">
            <a:avLst>
              <a:gd name="adj" fmla="val 5435"/>
            </a:avLst>
          </a:prstGeom>
          <a:solidFill>
            <a:srgbClr val="111F32"/>
          </a:solidFill>
          <a:ln w="8255">
            <a:solidFill>
              <a:srgbClr val="1A30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255264"/>
            <a:ext cx="402336" cy="402336"/>
          </a:xfrm>
          <a:prstGeom prst="ellipse">
            <a:avLst/>
          </a:prstGeom>
          <a:solidFill>
            <a:srgbClr val="00C8FF">
              <a:alpha val="20000"/>
            </a:srgbClr>
          </a:solidFill>
          <a:ln w="8890">
            <a:solidFill>
              <a:srgbClr val="00C8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25526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87552" y="320040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needle serve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87552" y="35478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web UI at localhost:7700 and MCP server on stdio.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84064" y="3291840"/>
            <a:ext cx="1042416" cy="329184"/>
          </a:xfrm>
          <a:prstGeom prst="roundRect">
            <a:avLst>
              <a:gd name="adj" fmla="val 13889"/>
            </a:avLst>
          </a:prstGeom>
          <a:solidFill>
            <a:srgbClr val="060E1A"/>
          </a:solidFill>
          <a:ln w="8255">
            <a:solidFill>
              <a:srgbClr val="00E67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84064" y="3291840"/>
            <a:ext cx="10424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187952"/>
            <a:ext cx="5852160" cy="384048"/>
          </a:xfrm>
          <a:prstGeom prst="roundRect">
            <a:avLst>
              <a:gd name="adj" fmla="val 11905"/>
            </a:avLst>
          </a:prstGeom>
          <a:solidFill>
            <a:srgbClr val="0C1828"/>
          </a:solidFill>
          <a:ln w="8255">
            <a:solidFill>
              <a:srgbClr val="1A30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" y="4297680"/>
            <a:ext cx="5559552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B8D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needle init . &amp;&amp; needle serve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400800" y="1078992"/>
            <a:ext cx="2560320" cy="3858768"/>
          </a:xfrm>
          <a:prstGeom prst="rect">
            <a:avLst/>
          </a:prstGeom>
          <a:solidFill>
            <a:srgbClr val="0C1828"/>
          </a:solidFill>
          <a:ln w="8255">
            <a:solidFill>
              <a:srgbClr val="1A3050"/>
            </a:solidFill>
            <a:prstDash val="solid"/>
          </a:ln>
        </p:spPr>
      </p:sp>
      <p:pic>
        <p:nvPicPr>
          <p:cNvPr id="28" name="Image 0" descr="D:/NEEDLE/docs/Screenshot 2026-07-12 17445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97280"/>
            <a:ext cx="2633472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we're going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21792" y="1243584"/>
            <a:ext cx="7900416" cy="54864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1133856"/>
            <a:ext cx="274320" cy="27432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768096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· Now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21792" y="1517904"/>
            <a:ext cx="1993392" cy="3566160"/>
          </a:xfrm>
          <a:prstGeom prst="roundRect">
            <a:avLst>
              <a:gd name="adj" fmla="val 2294"/>
            </a:avLst>
          </a:prstGeom>
          <a:solidFill>
            <a:srgbClr val="111F32"/>
          </a:solidFill>
          <a:ln w="8255">
            <a:solidFill>
              <a:srgbClr val="00E6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664208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Hybrid BM25+HNSW search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49808" y="2450592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Knowledge graph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49808" y="3236976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MCP · 14 tools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49808" y="4023360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Health score 100/100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93008" y="1133856"/>
            <a:ext cx="274320" cy="27432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768096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v1.5 · Q3 2025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0" y="1517904"/>
            <a:ext cx="1993392" cy="3566160"/>
          </a:xfrm>
          <a:prstGeom prst="roundRect">
            <a:avLst>
              <a:gd name="adj" fmla="val 2294"/>
            </a:avLst>
          </a:prstGeom>
          <a:solidFill>
            <a:srgbClr val="111F32"/>
          </a:solidFill>
          <a:ln w="8255">
            <a:solidFill>
              <a:srgbClr val="00C8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71216" y="1664208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RwLock parallel reads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871216" y="2450592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Result caching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871216" y="3236976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VS Code extension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871216" y="4023360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Live re-index watcher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14416" y="1133856"/>
            <a:ext cx="274320" cy="27432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4608" y="768096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 · Q4 2025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864608" y="1517904"/>
            <a:ext cx="1993392" cy="3566160"/>
          </a:xfrm>
          <a:prstGeom prst="roundRect">
            <a:avLst>
              <a:gd name="adj" fmla="val 2294"/>
            </a:avLst>
          </a:prstGeom>
          <a:solidFill>
            <a:srgbClr val="111F32"/>
          </a:solidFill>
          <a:ln w="8255">
            <a:solidFill>
              <a:srgbClr val="00C8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92624" y="1664208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Multi-repo workspace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92624" y="2450592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Team index sharing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992624" y="3236976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CI/CD integration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992624" y="4023360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Diff-aware reindex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735824" y="1133856"/>
            <a:ext cx="274320" cy="274320"/>
          </a:xfrm>
          <a:prstGeom prst="ellipse">
            <a:avLst/>
          </a:prstGeom>
          <a:solidFill>
            <a:srgbClr val="5C7D9E"/>
          </a:solidFill>
          <a:ln w="12700">
            <a:solidFill>
              <a:srgbClr val="5C7D9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86016" y="768096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C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· 2026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986016" y="1517904"/>
            <a:ext cx="1993392" cy="3566160"/>
          </a:xfrm>
          <a:prstGeom prst="roundRect">
            <a:avLst>
              <a:gd name="adj" fmla="val 2294"/>
            </a:avLst>
          </a:prstGeom>
          <a:solidFill>
            <a:srgbClr val="111F32"/>
          </a:solidFill>
          <a:ln w="8255">
            <a:solidFill>
              <a:srgbClr val="5C7D9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14032" y="1664208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SSO + RBAC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114032" y="2450592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Org dashboards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114032" y="3236976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Custom embeddings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114032" y="4023360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Audit logging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by engineers who felt the pain firsthand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187313"/>
            <a:ext cx="4023360" cy="3657600"/>
          </a:xfrm>
          <a:prstGeom prst="roundRect">
            <a:avLst>
              <a:gd name="adj" fmla="val 1250"/>
            </a:avLst>
          </a:prstGeom>
          <a:solidFill>
            <a:srgbClr val="111F32"/>
          </a:solidFill>
          <a:ln w="8255">
            <a:solidFill>
              <a:srgbClr val="1A30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65376" y="1253431"/>
            <a:ext cx="1207008" cy="1207008"/>
          </a:xfrm>
          <a:prstGeom prst="ellipse">
            <a:avLst/>
          </a:prstGeom>
          <a:solidFill>
            <a:srgbClr val="111F32"/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65376" y="1431036"/>
            <a:ext cx="1207008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C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523744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F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Somil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81635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Lead Engineer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3108960"/>
            <a:ext cx="3657600" cy="27432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3218688"/>
            <a:ext cx="3767328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systems engineer. Built Needle end-to-end in Rust — from Tree-sitter AST chunking to the Axum HTTP server, HNSW index, Tauri desktop app, and MCP protocol layer.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21792" y="4572000"/>
            <a:ext cx="3767328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850" dirty="0">
                <a:solidFill>
                  <a:srgbClr val="5C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· Axum · Tauri · TypeScript · Tree-sitter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63440" y="1078992"/>
            <a:ext cx="4297680" cy="3657600"/>
          </a:xfrm>
          <a:prstGeom prst="roundRect">
            <a:avLst>
              <a:gd name="adj" fmla="val 1250"/>
            </a:avLst>
          </a:prstGeom>
          <a:solidFill>
            <a:srgbClr val="0C1828"/>
          </a:solidFill>
          <a:ln w="8255">
            <a:solidFill>
              <a:srgbClr val="1A30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188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at a Glance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1499616"/>
            <a:ext cx="3931920" cy="27432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3168" y="159105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C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144768" y="1591056"/>
            <a:ext cx="2706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+ TypeScript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73168" y="197510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C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144768" y="1975104"/>
            <a:ext cx="2706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Open Source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73168" y="23591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C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144768" y="2359152"/>
            <a:ext cx="2706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github.com/SOMIL71/needle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73168" y="274320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C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144768" y="2743200"/>
            <a:ext cx="2706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· Production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73168" y="312724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C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144768" y="3127248"/>
            <a:ext cx="2706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/ 100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73168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C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144768" y="3511296"/>
            <a:ext cx="2706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tools (stdio)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73168" y="389534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C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144768" y="3895344"/>
            <a:ext cx="2706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3.89ms avg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73168" y="42793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C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144768" y="4279392"/>
            <a:ext cx="2706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0.2s for 52 files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82880"/>
            <a:ext cx="2743200" cy="2743200"/>
          </a:xfrm>
          <a:prstGeom prst="ellipse">
            <a:avLst/>
          </a:prstGeom>
          <a:solidFill>
            <a:srgbClr val="00C8FF">
              <a:alpha val="3000"/>
            </a:srgbClr>
          </a:solidFill>
          <a:ln w="12700">
            <a:solidFill>
              <a:srgbClr val="00C8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0F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 of code is the</a:t>
            </a:r>
            <a:endParaRPr lang="en-US" sz="4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0F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 of understanding it.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2157984"/>
            <a:ext cx="8046720" cy="36576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67712"/>
            <a:ext cx="14996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&lt;4ms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14996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kern="0" spc="150" dirty="0">
                <a:solidFill>
                  <a:srgbClr val="5C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time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176272" y="2267712"/>
            <a:ext cx="14996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100/100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176272" y="2651760"/>
            <a:ext cx="14996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kern="0" spc="150" dirty="0">
                <a:solidFill>
                  <a:srgbClr val="5C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803904" y="2267712"/>
            <a:ext cx="14996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tools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03904" y="2651760"/>
            <a:ext cx="14996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kern="0" spc="150" dirty="0">
                <a:solidFill>
                  <a:srgbClr val="5C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431536" y="2267712"/>
            <a:ext cx="14996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31536" y="2651760"/>
            <a:ext cx="14996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kern="0" spc="150" dirty="0">
                <a:solidFill>
                  <a:srgbClr val="5C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&amp; offline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059168" y="2267712"/>
            <a:ext cx="14996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059168" y="2651760"/>
            <a:ext cx="14996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kern="0" spc="150" dirty="0">
                <a:solidFill>
                  <a:srgbClr val="5C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48640" y="2889504"/>
            <a:ext cx="8046720" cy="36576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63040" y="3264408"/>
            <a:ext cx="6217920" cy="402336"/>
          </a:xfrm>
          <a:prstGeom prst="roundRect">
            <a:avLst>
              <a:gd name="adj" fmla="val 11364"/>
            </a:avLst>
          </a:prstGeom>
          <a:solidFill>
            <a:srgbClr val="0C1828"/>
          </a:solidFill>
          <a:ln w="8255">
            <a:solidFill>
              <a:srgbClr val="1A30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5947" y="3355848"/>
            <a:ext cx="592531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B8D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cargo install needle  &amp;&amp;  needle init .  &amp;&amp;  needle serve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12064" y="384048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seconds from install to full codebase search.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6861" y="4352544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github.com/SOMIL71/NEEDLE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1225</Words>
  <Application>Microsoft Office PowerPoint</Application>
  <PresentationFormat>On-screen Show (16:9)</PresentationFormat>
  <Paragraphs>294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Needle — Hackathon Pitch</dc:title>
  <dc:subject>PptxGenJS Presentation</dc:subject>
  <dc:creator>Needle</dc:creator>
  <cp:lastModifiedBy>somil jha</cp:lastModifiedBy>
  <cp:revision>2</cp:revision>
  <dcterms:created xsi:type="dcterms:W3CDTF">2026-07-12T12:43:08Z</dcterms:created>
  <dcterms:modified xsi:type="dcterms:W3CDTF">2026-07-12T12:49:42Z</dcterms:modified>
</cp:coreProperties>
</file>